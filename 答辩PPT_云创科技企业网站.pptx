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2-1.jpg" ContentType="image/jpg"/>
  <Override PartName="/ppt/media/image-23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embeddedFontLst>
    <p:embeddedFont>
      <p:font typeface="MiSans" charset="-122" pitchFamily="34"/>
      <p:regular r:id="rId33"/>
    </p:embeddedFont>
    <p:embeddedFont>
      <p:font typeface="Noto Sans SC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3.png"/><Relationship Id="rId3" Type="http://schemas.openxmlformats.org/officeDocument/2006/relationships/image" Target="../media/image-2-4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1-2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4-4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4-4.png"/><Relationship Id="rId4" Type="http://schemas.openxmlformats.org/officeDocument/2006/relationships/image" Target="../media/image-11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5-5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5-5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4.png"/><Relationship Id="rId3" Type="http://schemas.openxmlformats.org/officeDocument/2006/relationships/image" Target="../media/image-2-4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1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4.png"/><Relationship Id="rId3" Type="http://schemas.openxmlformats.org/officeDocument/2006/relationships/image" Target="../media/image-2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5-5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3.png"/><Relationship Id="rId5" Type="http://schemas.openxmlformats.org/officeDocument/2006/relationships/image" Target="../media/image-2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-4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rotWithShape="1" flip="none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</a:t>
            </a:r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/05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11" name="Image 1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745" y="2816860"/>
            <a:ext cx="7075805" cy="15164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云创科技企业网站的设计与实现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n00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6-d2sggsm1bb2p4onbon20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290955" y="4163060"/>
            <a:ext cx="3957955" cy="448119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844550" y="2692400"/>
            <a:ext cx="2663190" cy="525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9" name="Image 3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 flipH="1">
            <a:off x="4570730" y="135763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 flipH="1">
            <a:off x="4570730" y="217233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 flipH="1">
            <a:off x="4570730" y="292481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 flipH="1">
            <a:off x="4570730" y="370014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 flipH="1">
            <a:off x="4570730" y="444373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6" name="Shape 9"/>
          <p:cNvSpPr/>
          <p:nvPr/>
        </p:nvSpPr>
        <p:spPr>
          <a:xfrm flipH="1">
            <a:off x="4570730" y="522795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0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" name="Shape 1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9" name="Shape 1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20" name="Shape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21" name="Shape 14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22" name="Shape 15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23" name="Shape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24" name="Text 17"/>
          <p:cNvSpPr/>
          <p:nvPr/>
        </p:nvSpPr>
        <p:spPr>
          <a:xfrm>
            <a:off x="4458970" y="1170940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01.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642610" y="1403350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企业数字化转型背景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458970" y="1955165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02.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642610" y="218757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系统建设可行性论证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458970" y="2724785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642610" y="295719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系统需求分析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458970" y="3505835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04.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5642610" y="373824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技术选型与开发工具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458970" y="4260215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05.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642610" y="449262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系统设计与数据库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4458970" y="5033645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06.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5642610" y="526605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功能实现与界面展示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6-d2sggsm1bb2p4onbon20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290955" y="4163060"/>
            <a:ext cx="3957955" cy="44811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318547" y="609825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045210" y="1353185"/>
            <a:ext cx="1408430" cy="9766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045210" y="1353185"/>
            <a:ext cx="1408430" cy="9766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045210" y="2296160"/>
            <a:ext cx="2663190" cy="525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1125220" y="227457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1"/>
          <p:cNvSpPr/>
          <p:nvPr/>
        </p:nvSpPr>
        <p:spPr>
          <a:xfrm flipH="1">
            <a:off x="1954073" y="3498532"/>
            <a:ext cx="159385" cy="40259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" name="Shape 12"/>
          <p:cNvSpPr/>
          <p:nvPr/>
        </p:nvSpPr>
        <p:spPr>
          <a:xfrm flipH="1">
            <a:off x="6996886" y="3498532"/>
            <a:ext cx="159385" cy="40259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19" name="Image 4" descr="https://kimi-img.moonshot.cn/pub/slides/slides_tmpl/image/25-09-04-11:33:05-d2sggse1bb2p4onbon00.png">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107108" y="3338512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pPr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2728138" y="3449002"/>
            <a:ext cx="2409825" cy="15386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系统测试与质量保障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149921" y="3338512"/>
            <a:ext cx="1619250" cy="7607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pPr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828101" y="3449002"/>
            <a:ext cx="2409825" cy="15386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企业数字化转型背景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2-d2sggu61bb2p4onbone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2-d2sggu61bb2p4onbond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290" y="2486660"/>
            <a:ext cx="9105265" cy="39160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860" y="1240155"/>
            <a:ext cx="111696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企业网站建设的行业背景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8" name="Shape 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pic>
        <p:nvPicPr>
          <p:cNvPr id="9" name="Image 3" descr="https://kimi-img.moonshot.cn/pub/slides/slides_tmpl/image/25-09-04-11:33:15-d2sgguu1bb2p4onbonh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10" y="4102100"/>
            <a:ext cx="2884170" cy="180784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4-11:33:09-d2sggte1bb2p4onbon6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40" y="3285490"/>
            <a:ext cx="262255" cy="263525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4-11:33:06-d2sggsm1bb2p4onbon1g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785495" y="3761105"/>
            <a:ext cx="469900" cy="34099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 rot="16200000">
            <a:off x="379730" y="3850005"/>
            <a:ext cx="913765" cy="209550"/>
          </a:xfrm>
          <a:prstGeom prst="parallelogram">
            <a:avLst>
              <a:gd name="adj" fmla="val 38342"/>
            </a:avLst>
          </a:prstGeom>
          <a:solidFill>
            <a:srgbClr val="2F5BEE">
              <a:alpha val="34118"/>
            </a:srgbClr>
          </a:solidFill>
          <a:ln/>
        </p:spPr>
        <p:txBody>
          <a:bodyPr/>
          <a:p/>
        </p:txBody>
      </p:sp>
      <p:sp>
        <p:nvSpPr>
          <p:cNvPr id="13" name="Shape 5"/>
          <p:cNvSpPr/>
          <p:nvPr/>
        </p:nvSpPr>
        <p:spPr>
          <a:xfrm flipV="1" rot="16200000">
            <a:off x="1584325" y="3179445"/>
            <a:ext cx="692150" cy="123190"/>
          </a:xfrm>
          <a:prstGeom prst="parallelogram">
            <a:avLst>
              <a:gd name="adj" fmla="val 38342"/>
            </a:avLst>
          </a:prstGeom>
          <a:solidFill>
            <a:srgbClr val="2F5BEE">
              <a:alpha val="12941"/>
            </a:srgbClr>
          </a:solidFill>
          <a:ln/>
        </p:spPr>
        <p:txBody>
          <a:bodyPr/>
          <a:p/>
        </p:txBody>
      </p:sp>
      <p:sp>
        <p:nvSpPr>
          <p:cNvPr id="14" name="Shape 6"/>
          <p:cNvSpPr/>
          <p:nvPr/>
        </p:nvSpPr>
        <p:spPr>
          <a:xfrm flipV="1" rot="16200000">
            <a:off x="1781175" y="3522345"/>
            <a:ext cx="692150" cy="76200"/>
          </a:xfrm>
          <a:prstGeom prst="parallelogram">
            <a:avLst>
              <a:gd name="adj" fmla="val 38342"/>
            </a:avLst>
          </a:prstGeom>
          <a:solidFill>
            <a:srgbClr val="4B8BF7">
              <a:alpha val="45882"/>
            </a:srgbClr>
          </a:solidFill>
          <a:ln/>
        </p:spPr>
        <p:txBody>
          <a:bodyPr/>
          <a:p/>
        </p:txBody>
      </p:sp>
      <p:sp>
        <p:nvSpPr>
          <p:cNvPr id="15" name="Text 7"/>
          <p:cNvSpPr/>
          <p:nvPr/>
        </p:nvSpPr>
        <p:spPr>
          <a:xfrm>
            <a:off x="3370580" y="3075940"/>
            <a:ext cx="371221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企业数字化转型趋势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3512820" y="3658870"/>
            <a:ext cx="3385820" cy="26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互联网技术深度渗透各行业，企业网站已从简单的信息展示工具升级为集品牌传播、产品营销、客户服务于一体的综合平台。，通过在线支付、团购折扣、信息推送等方式完成消费闭环，实现线上揽客与线下服务的深度融合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7479665" y="3075940"/>
            <a:ext cx="371221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中小企业数字化需求迫切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7621905" y="3658870"/>
            <a:ext cx="3385820" cy="26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据统计，2025年我国数字经济规模突破60万亿元，占GDP比重超40%。然而大量中小企业仍缺乏功能完善的动态网站，难以满足在线业务需求。，勤易服装管理系统旨在通过数字化手段重构业务流程，应对消费升级带来的运营挑战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企业网站技术发展趋势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4-11:33:16-d2sggv61bb2p4onbonig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多端适配成为标配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响应式设计确保网站在PC、手机、平板上体验一致，轻便移动终端替代笨重家庭PC，消费者行为向即时化、场景化迁移，移动支付成为必然趋势。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交互智能化趋势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AI客服、智能推荐等技术正在提升网站用户体验，真正变革在于在线地图导购服务的深度应用，实现精准引流。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3408045" y="494220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数据驱动运营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通过用户行为分析优化产品展示和营销策略，以数据驱动精准营销与库存优化，抢占新零售时代先机。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可行性论证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581660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rotWithShape="1" flip="none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1077595" y="1812290"/>
            <a:ext cx="4129405" cy="548005"/>
          </a:xfrm>
          <a:prstGeom prst="roundRect">
            <a:avLst>
              <a:gd name="adj" fmla="val 16667"/>
            </a:avLst>
          </a:prstGeom>
          <a:gradFill rotWithShape="1" flip="none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 rot="10800000">
            <a:off x="581660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rotWithShape="1" flip="none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77595" y="4219575"/>
            <a:ext cx="4129405" cy="548005"/>
          </a:xfrm>
          <a:prstGeom prst="roundRect">
            <a:avLst>
              <a:gd name="adj" fmla="val 16667"/>
            </a:avLst>
          </a:prstGeom>
          <a:gradFill rotWithShape="1" flip="none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 rot="10800000">
            <a:off x="6457315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rotWithShape="1" flip="none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953250" y="1812290"/>
            <a:ext cx="4129405" cy="548005"/>
          </a:xfrm>
          <a:prstGeom prst="roundRect">
            <a:avLst>
              <a:gd name="adj" fmla="val 16667"/>
            </a:avLst>
          </a:prstGeom>
          <a:gradFill rotWithShape="1" flip="none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 rot="10800000">
            <a:off x="6457315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rotWithShape="1" flip="none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953250" y="4219575"/>
            <a:ext cx="4129405" cy="548005"/>
          </a:xfrm>
          <a:prstGeom prst="roundRect">
            <a:avLst>
              <a:gd name="adj" fmla="val 16667"/>
            </a:avLst>
          </a:prstGeom>
          <a:gradFill rotWithShape="1" flip="none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81660" y="532130"/>
            <a:ext cx="109664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PHP+MySQL技术可行性论证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54455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技术可行性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76020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PHP+MySQL组合经多年验证，生态成熟，文档丰富，信息化需求日益迫切。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54455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经济可行性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76020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全部基于开源软件，零授权费用，Docker部署成本极低，技术文档完善，社区支持丰富。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08520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操作可行性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51675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界面简洁直观，后台模块化设计，非技术人员也能快速上手，投资回报周期可控，符合中小企业预算。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08520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/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51675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，培训成本低，变革阻力小，易于推广落地。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系统需求分析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4-d2sggum1bb2p4onbonf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1-d2sggtu1bb2p4onbonc0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875" y="64643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云创科技企业网站需求分析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行业规模与系统需求框架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创科技是一家专注于大数据和AI领域的高新技术企业，现有企业近三万家，年销售额三千万以上企业占比达三成。系统需求涵盖功能需求、性能需求和用户需求三个层面，功能需求包括企业简介展示、产品管理、新闻发布、客户留言、在线订购、用户管理和后台管理七大模块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/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面响应时间&lt;3秒，支持100+并发用户，7x24小时稳定运行，保障业务高峰期的系统稳定性；普通用户可浏览、留言、订购；管理员负责内容维护和订单处理，业务流程图清晰呈现从订单生成、库存调配到财务结算的完整闭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7-d2sggve1bb2p4onbono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t="100000" l="100000"/>
            </a:path>
            <a:tileRect r="-100000" b="-100000"/>
          </a:gra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系统核心业务流程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7" name="Image 1" descr="https://kimi-img.moonshot.cn/pub/slides/slides_tmpl/image/25-09-04-11:33:08-d2sggt61bb2p4onbon5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4-11:33:17-d2sggve1bb2p4onbonm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用户浏览流程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用户访问首页→浏览产品→查看详情→在线订购→提交订单→管理员处理，实现信息流、物流与资金流同步管控。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后台管理流程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管理员登录→管理产品/新闻→回复留言→处理订单→查看统计数据，终端店员侧重开单效率，消费者体验微店浏览与移动支付。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数据流转机制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前台操作写入数据库，后台读取并更新，前后台数据实时同步，减少人工干预节点，通过权限分级确保数据安全与职责明晰。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技术选型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76700" y="2049145"/>
            <a:ext cx="1046861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PHP+MySQL技术栈详解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 rot="19800000">
            <a:off x="751840" y="3292475"/>
            <a:ext cx="1946910" cy="1729740"/>
          </a:xfrm>
          <a:custGeom>
            <a:avLst/>
            <a:gdLst/>
            <a:ahLst/>
            <a:cxnLst/>
            <a:rect l="l" t="t" r="r" b="b"/>
            <a:pathLst>
              <a:path w="1946910" h="1729740">
                <a:moveTo>
                  <a:pt x="694401" y="1689640"/>
                </a:moveTo>
                <a:lnTo>
                  <a:pt x="1252510" y="1689640"/>
                </a:lnTo>
                <a:lnTo>
                  <a:pt x="1170474" y="1712169"/>
                </a:lnTo>
                <a:cubicBezTo>
                  <a:pt x="1106834" y="1723690"/>
                  <a:pt x="1040944" y="1729740"/>
                  <a:pt x="973455" y="1729740"/>
                </a:cubicBezTo>
                <a:cubicBezTo>
                  <a:pt x="905966" y="1729740"/>
                  <a:pt x="840076" y="1723690"/>
                  <a:pt x="776437" y="1712169"/>
                </a:cubicBezTo>
                <a:close/>
                <a:moveTo>
                  <a:pt x="419976" y="1576997"/>
                </a:moveTo>
                <a:lnTo>
                  <a:pt x="1526934" y="1576997"/>
                </a:lnTo>
                <a:lnTo>
                  <a:pt x="1520034" y="1582034"/>
                </a:lnTo>
                <a:lnTo>
                  <a:pt x="1447015" y="1617097"/>
                </a:lnTo>
                <a:lnTo>
                  <a:pt x="499895" y="1617097"/>
                </a:lnTo>
                <a:lnTo>
                  <a:pt x="426876" y="1582034"/>
                </a:lnTo>
                <a:close/>
                <a:moveTo>
                  <a:pt x="270939" y="1464354"/>
                </a:moveTo>
                <a:lnTo>
                  <a:pt x="1675972" y="1464354"/>
                </a:lnTo>
                <a:lnTo>
                  <a:pt x="1664715" y="1476426"/>
                </a:lnTo>
                <a:lnTo>
                  <a:pt x="1626315" y="1504455"/>
                </a:lnTo>
                <a:lnTo>
                  <a:pt x="320595" y="1504455"/>
                </a:lnTo>
                <a:lnTo>
                  <a:pt x="282196" y="1476426"/>
                </a:lnTo>
                <a:close/>
                <a:moveTo>
                  <a:pt x="165887" y="1351712"/>
                </a:moveTo>
                <a:lnTo>
                  <a:pt x="1781023" y="1351712"/>
                </a:lnTo>
                <a:lnTo>
                  <a:pt x="1743626" y="1391812"/>
                </a:lnTo>
                <a:lnTo>
                  <a:pt x="203285" y="1391812"/>
                </a:lnTo>
                <a:close/>
                <a:moveTo>
                  <a:pt x="95731" y="1239069"/>
                </a:moveTo>
                <a:lnTo>
                  <a:pt x="1851181" y="1239069"/>
                </a:lnTo>
                <a:lnTo>
                  <a:pt x="1826578" y="1279169"/>
                </a:lnTo>
                <a:lnTo>
                  <a:pt x="120333" y="1279169"/>
                </a:lnTo>
                <a:close/>
                <a:moveTo>
                  <a:pt x="46344" y="1126427"/>
                </a:moveTo>
                <a:lnTo>
                  <a:pt x="1900566" y="1126427"/>
                </a:lnTo>
                <a:lnTo>
                  <a:pt x="1886496" y="1166527"/>
                </a:lnTo>
                <a:lnTo>
                  <a:pt x="60414" y="1166527"/>
                </a:lnTo>
                <a:close/>
                <a:moveTo>
                  <a:pt x="12835" y="1013784"/>
                </a:moveTo>
                <a:lnTo>
                  <a:pt x="1934075" y="1013784"/>
                </a:lnTo>
                <a:lnTo>
                  <a:pt x="1931183" y="1039172"/>
                </a:lnTo>
                <a:lnTo>
                  <a:pt x="1926020" y="1053884"/>
                </a:lnTo>
                <a:lnTo>
                  <a:pt x="20890" y="1053884"/>
                </a:lnTo>
                <a:lnTo>
                  <a:pt x="15728" y="1039172"/>
                </a:lnTo>
                <a:close/>
                <a:moveTo>
                  <a:pt x="0" y="901141"/>
                </a:moveTo>
                <a:lnTo>
                  <a:pt x="1946910" y="901141"/>
                </a:lnTo>
                <a:lnTo>
                  <a:pt x="1942341" y="941241"/>
                </a:lnTo>
                <a:lnTo>
                  <a:pt x="4569" y="941241"/>
                </a:lnTo>
                <a:close/>
                <a:moveTo>
                  <a:pt x="4569" y="788499"/>
                </a:moveTo>
                <a:lnTo>
                  <a:pt x="1942341" y="788499"/>
                </a:lnTo>
                <a:lnTo>
                  <a:pt x="1946910" y="828599"/>
                </a:lnTo>
                <a:lnTo>
                  <a:pt x="0" y="828599"/>
                </a:lnTo>
                <a:close/>
                <a:moveTo>
                  <a:pt x="20890" y="675856"/>
                </a:moveTo>
                <a:lnTo>
                  <a:pt x="1926021" y="675856"/>
                </a:lnTo>
                <a:lnTo>
                  <a:pt x="1931183" y="690568"/>
                </a:lnTo>
                <a:lnTo>
                  <a:pt x="1934075" y="715956"/>
                </a:lnTo>
                <a:lnTo>
                  <a:pt x="12835" y="715956"/>
                </a:lnTo>
                <a:lnTo>
                  <a:pt x="15728" y="690568"/>
                </a:lnTo>
                <a:close/>
                <a:moveTo>
                  <a:pt x="60414" y="563213"/>
                </a:moveTo>
                <a:lnTo>
                  <a:pt x="1886497" y="563213"/>
                </a:lnTo>
                <a:lnTo>
                  <a:pt x="1900567" y="603313"/>
                </a:lnTo>
                <a:lnTo>
                  <a:pt x="46344" y="603313"/>
                </a:lnTo>
                <a:close/>
                <a:moveTo>
                  <a:pt x="120332" y="450571"/>
                </a:moveTo>
                <a:lnTo>
                  <a:pt x="1826578" y="450571"/>
                </a:lnTo>
                <a:lnTo>
                  <a:pt x="1851181" y="490671"/>
                </a:lnTo>
                <a:lnTo>
                  <a:pt x="95729" y="490671"/>
                </a:lnTo>
                <a:close/>
                <a:moveTo>
                  <a:pt x="203284" y="337928"/>
                </a:moveTo>
                <a:lnTo>
                  <a:pt x="1743627" y="337928"/>
                </a:lnTo>
                <a:lnTo>
                  <a:pt x="1781024" y="378028"/>
                </a:lnTo>
                <a:lnTo>
                  <a:pt x="165886" y="378028"/>
                </a:lnTo>
                <a:close/>
                <a:moveTo>
                  <a:pt x="320594" y="225285"/>
                </a:moveTo>
                <a:lnTo>
                  <a:pt x="1626317" y="225285"/>
                </a:lnTo>
                <a:lnTo>
                  <a:pt x="1664715" y="253314"/>
                </a:lnTo>
                <a:lnTo>
                  <a:pt x="1675972" y="265386"/>
                </a:lnTo>
                <a:lnTo>
                  <a:pt x="270938" y="265386"/>
                </a:lnTo>
                <a:lnTo>
                  <a:pt x="282196" y="253314"/>
                </a:lnTo>
                <a:close/>
                <a:moveTo>
                  <a:pt x="499893" y="112643"/>
                </a:moveTo>
                <a:lnTo>
                  <a:pt x="1447017" y="112643"/>
                </a:lnTo>
                <a:lnTo>
                  <a:pt x="1520034" y="147706"/>
                </a:lnTo>
                <a:lnTo>
                  <a:pt x="1526935" y="152743"/>
                </a:lnTo>
                <a:lnTo>
                  <a:pt x="419975" y="152743"/>
                </a:lnTo>
                <a:lnTo>
                  <a:pt x="426876" y="147706"/>
                </a:lnTo>
                <a:close/>
                <a:moveTo>
                  <a:pt x="973431" y="0"/>
                </a:moveTo>
                <a:lnTo>
                  <a:pt x="973480" y="0"/>
                </a:lnTo>
                <a:lnTo>
                  <a:pt x="1073409" y="4464"/>
                </a:lnTo>
                <a:cubicBezTo>
                  <a:pt x="1106272" y="7417"/>
                  <a:pt x="1138655" y="11810"/>
                  <a:pt x="1170474" y="17571"/>
                </a:cubicBezTo>
                <a:lnTo>
                  <a:pt x="1252514" y="40100"/>
                </a:lnTo>
                <a:lnTo>
                  <a:pt x="694398" y="40100"/>
                </a:lnTo>
                <a:lnTo>
                  <a:pt x="776437" y="17571"/>
                </a:lnTo>
                <a:cubicBezTo>
                  <a:pt x="808256" y="11810"/>
                  <a:pt x="840638" y="7417"/>
                  <a:pt x="873503" y="4464"/>
                </a:cubicBezTo>
                <a:close/>
              </a:path>
            </a:pathLst>
          </a:custGeom>
          <a:solidFill>
            <a:srgbClr val="00B0F0">
              <a:alpha val="30196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468755" y="-238125"/>
            <a:ext cx="15883890" cy="784796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2F5BEE">
                    <a:alpha val="61000"/>
                  </a:srgbClr>
                </a:gs>
                <a:gs pos="4500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t="50000" r="50000" b="50000" l="50000"/>
              </a:path>
            </a:gradFill>
            <a:prstDash val="solid"/>
          </a:ln>
        </p:spPr>
        <p:txBody>
          <a:bodyPr/>
          <a:p/>
        </p:txBody>
      </p:sp>
      <p:pic>
        <p:nvPicPr>
          <p:cNvPr id="6" name="Image 1" descr="https://kimi-img.moonshot.cn/pub/slides/slides_tmpl/image/25-09-04-11:33:09-d2sggte1bb2p4onbon8g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941195" y="1397635"/>
            <a:ext cx="1883410" cy="188341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4-11:33:09-d2sggte1bb2p4onbon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" y="2375535"/>
            <a:ext cx="2474595" cy="2458085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4-11:33:09-d2sggte1bb2p4onbon6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526" y="4254512"/>
            <a:ext cx="504778" cy="506199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0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pic>
        <p:nvPicPr>
          <p:cNvPr id="15" name="Image 4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6" name="Image 5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4-11:33:09-d2sggte1bb2p4onbon6g.png">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10121900" y="5080000"/>
            <a:ext cx="3007995" cy="3016250"/>
          </a:xfrm>
          <a:prstGeom prst="rect">
            <a:avLst/>
          </a:prstGeom>
        </p:spPr>
      </p:pic>
      <p:pic>
        <p:nvPicPr>
          <p:cNvPr id="18" name="Image 7" descr="https://kimi-img.moonshot.cn/pub/slides/slides_tmpl/image/25-09-04-11:33:10-d2sggtm1bb2p4onbona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620" y="2525747"/>
            <a:ext cx="2260600" cy="22606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076700" y="3403600"/>
            <a:ext cx="6583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技术栈选型与优势分析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4077335" y="3865245"/>
            <a:ext cx="6582410" cy="225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采用PHP+MySQL+Apache+HTML/CSS/JavaScript技术组合。PHP负责服务端业务逻辑，MySQL存储结构化数据，Apache处理HTTP请求。PHP语法接近C/Java，学习成本低，在Web开发领域应用极广；MySQL以高性能和高可靠性著称，支持事务和复杂查询；Docker容器化部署，一键拉起完整环境，消除环境不一致问题；Ajax保障异步通信与无刷新交互体验；CSS完成界面样式标准化。该选型兼顾开发效率与运行稳定性，技术文档与社区支持完善，便于后续维护迭代，符合中小型企业管理系统的建设成本与周期要求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系统设计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系统设计原则与目标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6" name="Image 1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4-11:33:16-d2sggv61bb2p4onbonkg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四大设计原则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实用性：所有功能以解决实际业务问题为出发点；稳定性：架构设计考虑异常处理和资源隔离；安全性：输入过滤防注入，会话认证保护后台；易用性：界面清晰，导航明确，降低学习成本。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预期建设目标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建立专业品牌形象窗口，实现产品动态管理，实现库存精准管控、销售实时追踪、会员深度运营与数据智能分析。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数据驱动转型愿景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开通在线订购渠道，建立客户互动平台，提升决策科学性与市场响应速度。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系统架构与功能模块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https://kimi-img.moonshot.cn/pub/slides/slides_tmpl/image/25-09-04-11:33:15-d2sgguu1bb2p4onboni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1907540"/>
            <a:ext cx="3719830" cy="2069465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09-04-11:33:17-d2sggve1bb2p4onbonlg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22225" y="3512185"/>
            <a:ext cx="4290060" cy="2616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57650" y="2143125"/>
            <a:ext cx="7212965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B/S三层架构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057650" y="2726055"/>
            <a:ext cx="7212965" cy="11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表现层：HTML+CSS+JS，运行在用户浏览器，业务逻辑层：PHP脚本处理数据校验和业务规则，数据访问层：MySQL存储和查询所有业务数据。三层解耦设计确保系统具备良好的可维护性与可扩展性。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057650" y="4046855"/>
            <a:ext cx="7213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六大功能模块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057650" y="4629785"/>
            <a:ext cx="7212965" cy="11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前台：企业简介、产品中心、新闻动态、客户留言、在线订购、后台：产品管理、新闻管理、留言管理、订单管理、用户管理，模块间通过标准接口松耦合集成，支撑企业未来业务规模增长与功能迭代。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2680" y="1847215"/>
            <a:ext cx="2790190" cy="4148455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43865" y="1741170"/>
            <a:ext cx="2790190" cy="4148455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322955" y="2245360"/>
            <a:ext cx="2790190" cy="4148455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011920" y="2245360"/>
            <a:ext cx="2790190" cy="4148455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56298" y="535305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数据库表结构设计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82295" y="2214245"/>
            <a:ext cx="24771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admin表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11505" y="2829560"/>
            <a:ext cx="246189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存储管理员登录凭证：id, username, password, create_time。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442970" y="265557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users表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3510280" y="3270885"/>
            <a:ext cx="246189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存储注册用户信息：id, username, password, phone, email，密码采用加密存储，个性化字段支持灵活配置。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23330" y="220091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products表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90640" y="2816225"/>
            <a:ext cx="246189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存储产品信息：id, name, category, price, image, description，消除冗余与更新异常，通过主键索引与外键关联保障数据完整性。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9116695" y="270446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orders表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9184005" y="3319780"/>
            <a:ext cx="2461895" cy="298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记录订单数据：关联用户和产品，包含联系信息和状态，形成支撑全业务流程的关系型数据模型。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功能实现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0-d2sggtm1bb2p4onbon9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前台功能详细设计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rotWithShape="1" flip="none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pic>
        <p:nvPicPr>
          <p:cNvPr id="6" name="Image 2" descr="https://kimi-img.moonshot.cn/pub/slides/slides_tmpl/image/25-09-04-11:33:12-d2sggu61bb2p4onbone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780" y="2643505"/>
            <a:ext cx="2904490" cy="314579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1:33:10-d2sggtm1bb2p4onbonag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4-11:33:09-d2sggte1bb2p4onbon6g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6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7" name="Text 9"/>
          <p:cNvSpPr/>
          <p:nvPr/>
        </p:nvSpPr>
        <p:spPr>
          <a:xfrm>
            <a:off x="732155" y="264350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首页与企业简介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732155" y="3028950"/>
            <a:ext cx="3596640" cy="296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品牌标识、导航、Banner、产品展示和新闻动态；产品中心：网格展示产品，支持详情查看和立即订购；在线订购：表单提交订单，用户可追踪订单状态；客户留言：用户提交咨询，管理员后台回复；会员模块记录积分、等级与消费偏好，形成精准营销基础。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7999730" y="2643505"/>
            <a:ext cx="4997450" cy="343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后台功能详细设计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7999730" y="3023870"/>
            <a:ext cx="3596640" cy="276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管理员登录：账号密码验证，会话维持；产品管理：增删改查，含图片和价格；新闻管理：富文本编辑，支持配图；订单管理：查看详情，更新处理状态。各模块数据互通、权限隔离，形成完整业务支撑体系。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7-d2sggve1bb2p4onbon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7-d2sggve1bb2p4onbon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8780" y="-5142865"/>
            <a:ext cx="13035915" cy="811466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17-d2sggve1bb2p4onbonl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365" y="1880870"/>
            <a:ext cx="779145" cy="7905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17-d2sggve1bb2p4onbonl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17-d2sggve1bb2p4onbonl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Web端首页与核心交互界面呈现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866775" y="283019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核心界面展示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首页展示企业品牌、产品卡片和最新新闻动态，帮助用户快速把握经营态势。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4655820" y="324802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后台首页展示数据统计概览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产品详情页展示完整产品信息和在线订购入口，前端AngularJS解析响应并维持会话状态，返回包含用户基础信息、店铺编号与Token的JSON数据。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527540" y="200850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444865" y="28098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后台产品管理页支持添加、编辑和删除操作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操作路径符合用户习惯，降低培训成本与误操作概率，提升一线员工使用满意度。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8-d2sggt61bb2p4onbon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61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88055" y="1666875"/>
            <a:ext cx="789432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登录接口代码逻辑与数据流转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2"/>
          <p:cNvSpPr/>
          <p:nvPr/>
        </p:nvSpPr>
        <p:spPr>
          <a:xfrm>
            <a:off x="4799330" y="3131820"/>
            <a:ext cx="6583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RESTful接口设计与文档化规范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330315" y="3714750"/>
            <a:ext cx="5052060" cy="231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控制器通过RequestMapping注解映射userlogin路径，限定POST请求方式，ApiOperation注解描述接口语义与返回结构。方法入参为JSON格式字符串，包含用户名与密码字段，经解析后调用业务层完成身份校验。成功响应返回用户出生日期、头像路径、店铺编号、Token、性别、真实姓名、用户编号及用户名等字段，状态码区分成功与失败场景，msg字段承载系统提示信息，体现RESTful风格与接口文档化规范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2-d2sggu61bb2p4onbond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8-d2sggvm1bb2p4onbon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系统测试方案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1:33:04-d2sggs61bb2p4onbomug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581660" y="2522220"/>
            <a:ext cx="5175885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逐模块验证所有功能正常运行，表单提交和数据库读写正确，技术受限功能变更须经产品经理书面确认，避免单方面技术解释。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81660" y="4095115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兼容性测试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在Chrome、Firefox、Edge上测试界面和功能一致性，提升系统稳定性与用户体验。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安全测试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533515" y="2522220"/>
            <a:ext cx="5176520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SQL注入和XSS攻击防护验证，后台权限控制测试，覆盖不同终端与浏览器适配。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533515" y="4095115"/>
            <a:ext cx="517525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数据库测试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验证数据写入和读取的正确性和实时性，测试订单单独归类，确保统计记录实时生成与查询可靠。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523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t="100000" l="100000"/>
            </a:path>
            <a:tileRect r="-100000" b="-100000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t="100000" l="100000"/>
            </a:path>
            <a:tileRect r="-100000" b="-100000"/>
          </a:gra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876300" y="2032000"/>
            <a:ext cx="4953000" cy="4300855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2F5BEE">
                  <a:alpha val="17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353810" y="2032000"/>
            <a:ext cx="4953000" cy="4300855"/>
          </a:xfrm>
          <a:prstGeom prst="roundRect">
            <a:avLst>
              <a:gd name="adj" fmla="val 7194"/>
            </a:avLst>
          </a:prstGeom>
          <a:gradFill rotWithShape="1" flip="none">
            <a:gsLst>
              <a:gs pos="0">
                <a:srgbClr val="2F5BEE">
                  <a:alpha val="17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项目总结与展望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https://kimi-img.moonshot.cn/pub/slides/slides_tmpl/image/25-09-04-11:33:11-d2sggtu1bb2p4onbonb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335" y="2204085"/>
            <a:ext cx="1207135" cy="252984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09-04-11:33:11-d2sggtu1bb2p4onbonb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105" y="2204085"/>
            <a:ext cx="1207135" cy="25298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82265" y="25463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0551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63345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了云创科技企业网站从需求分析到部署上线的全流程开发，与预期设计目标及功能需求保持一致，实现企业工作管理先进性提升、统计工作量缩减与查询管理水平提高，验证了O2O模式在服装零售领域的落地价值。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416925" y="25463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35381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不足与改进方向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811645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界面可进一步优化，引入现代化框架提升体验，系统在安全防护、并发处理与细节体验方面存在改进余地；测试周期紧张导致覆盖度有限。安全防护可加强：验证码、密码加密存储、日志审计等功能待补充及恶意攻击防范，持续迭代以适配业务发展与技术演进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9-d2sggvu1bb2p4onbonq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gradFill rotWithShape="1" flip="none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p/>
        </p:txBody>
      </p:sp>
      <p:pic>
        <p:nvPicPr>
          <p:cNvPr id="7" name="Image 1" descr="https://kimi-img.moonshot.cn/pub/slides/slides_tmpl/image/25-09-04-11:33:04-d2sggs61bb2p4onbomu0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330200"/>
            <a:ext cx="262890" cy="1170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211695" y="5819775"/>
            <a:ext cx="444881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汇报日期：2026/05/25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99607" y="598268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感谢各位老师聆听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勤易服装管理系统：O2O赋能智慧零售</dc:title>
  <dc:subject>勤易服装管理系统：O2O赋能智慧零售</dc:subject>
  <dc:creator>Kimi</dc:creator>
  <cp:lastModifiedBy>Kimi</cp:lastModifiedBy>
  <cp:revision>1</cp:revision>
  <dcterms:created xsi:type="dcterms:W3CDTF">2026-04-29T03:39:28Z</dcterms:created>
  <dcterms:modified xsi:type="dcterms:W3CDTF">2026-04-29T03:39:28Z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{"Label":"勤易服装管理系统：O2O赋能智慧零售","ContentProducer":"001191110108MACG2KBH8F10000","ProduceID":"d7onodmfaja08tr3fnrg","ReservedCode1":"","ContentPropagator":"001191110108MACG2KBH8F20000","PropagateID":"d7onodmfaja08tr3fnrg","ReservedCode2":""}</vt:lpwstr>
  </property>
</Properties>
</file>